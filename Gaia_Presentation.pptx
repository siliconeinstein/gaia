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3" r:id="rId41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33"/>
    <p:sldId id="284" r:id="rId34"/>
    <p:sldId id="289" r:id="rId37"/>
    <p:sldId id="290" r:id="rId38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1" r:id="rId39"/>
    <p:sldId id="292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6000"/>
          </a:xfrm>
          <a:prstGeom prst="rect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0000" y="1800000"/>
            <a:ext cx="10080000" cy="14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0" b="1">
                <a:solidFill>
                  <a:srgbClr val="1A1A1A"/>
                </a:solidFill>
                <a:latin typeface="Helvetica Neue"/>
              </a:defRPr>
            </a:pPr>
            <a:r>
              <a:t>Gaia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060000"/>
            <a:ext cx="10080000" cy="10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600" b="0">
                <a:solidFill>
                  <a:srgbClr val="666666"/>
                </a:solidFill>
                <a:latin typeface="Helvetica Neue"/>
              </a:defRPr>
            </a:pPr>
            <a:r>
              <a:t>面向 Agentic Science at Scale 的</a:t>
            </a:r>
            <a:br/>
            <a:r>
              <a:t>知识包管理系统与 Large Knowledge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4680000"/>
            <a:ext cx="1008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666666"/>
                </a:solidFill>
                <a:latin typeface="Helvetica Neue"/>
              </a:defRPr>
            </a:pPr>
            <a:r>
              <a:t>[演讲者]  ·  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1 ·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AI Agent 正在成为科研参与者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64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AlphaFold 2: 预测 2 亿蛋白质结构 → Nature 方法学年度突破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GNoME: 发现 220 万新晶体结构，通过实验验证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AlphaProof / AlphaGeometry: IMO 级别数学推理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自动化实验室：Agent 设计-执行-分析闭环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趋势：Agent 不再只是工具，而是 co-researcher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0000" y="1800000"/>
            <a:ext cx="3600000" cy="2880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rtlCol="0" anchor="ctr"/>
          <a:lstStyle/>
          <a:p>
            <a:pPr algn="ctr">
              <a:defRPr sz="2200" b="1">
                <a:solidFill>
                  <a:srgbClr val="1B5E9F"/>
                </a:solidFill>
                <a:latin typeface="Helvetica Neue"/>
              </a:defRPr>
            </a:pPr>
            <a:r>
              <a:t>但两个瓶颈正在显现 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1 ·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瓶颈 1 — Agent 缺乏可靠的知识底座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64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论文间矛盾无法系统追踪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撤稿 (retraction) 的连锁影响无法传播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结论的可信度无法量化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引用 ≠ 认同，但现有系统无法区分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0000" y="1800000"/>
            <a:ext cx="1620000" cy="576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Paper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0" y="2880000"/>
            <a:ext cx="1620000" cy="576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Paper B</a:t>
            </a:r>
            <a:br/>
            <a:r>
              <a:t>(Retracted!)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0" y="3960000"/>
            <a:ext cx="1620000" cy="576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Paper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0000" y="2340000"/>
            <a:ext cx="1620000" cy="576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Paper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0000" y="3420000"/>
            <a:ext cx="1620000" cy="576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Paper 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30000" y="2376000"/>
            <a:ext cx="0" cy="504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0000" y="3456000"/>
            <a:ext cx="0" cy="504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540000" y="2808000"/>
            <a:ext cx="360000" cy="252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40000" y="3240000"/>
            <a:ext cx="360000" cy="288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0" y="4860000"/>
            <a:ext cx="360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D32F2F"/>
                </a:solidFill>
                <a:latin typeface="Helvetica Neue"/>
              </a:defRPr>
            </a:pPr>
            <a:r>
              <a:t>↑ 撤稿影响无法自动传播到 D, 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1 ·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瓶颈 2 — 同行评审无法 Scale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Agent 产出速度 &gt;&gt; 人类审稿能力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当前同行评审：周期数月、人力瓶颈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需要：机器可操作的知识管理与质量保障机制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t>不是替代人类审稿，而是让机器+人类协同审稿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0000" y="2520000"/>
            <a:ext cx="3600000" cy="1800000"/>
          </a:xfrm>
          <a:prstGeom prst="roundRect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我们的方案：</a:t>
            </a:r>
            <a:br/>
            <a:r>
              <a:t>Gaia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2 · Gaia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核心思想 — 知识 = 概率推理图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50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每条知识 = 一个命题节点 (Node)，带可信度 (belief)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推理关系 = 超边 (HyperEdge)，连接前提与结论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新证据加入 → Belief Propagation 沿推理链自动传播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矛盾 = 一等公民，用 contradiction edge 显式建模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0" y="1800000"/>
            <a:ext cx="1980000" cy="72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前提 A</a:t>
            </a:r>
            <a:br/>
            <a:r>
              <a:t>belief=0.9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60000" y="1800000"/>
            <a:ext cx="1980000" cy="72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前提 B</a:t>
            </a:r>
            <a:br/>
            <a:r>
              <a:t>belief=0.8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3960000"/>
            <a:ext cx="1980000" cy="72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结论 C</a:t>
            </a:r>
            <a:br/>
            <a:r>
              <a:t>belief=?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0" y="2951999"/>
            <a:ext cx="2340000" cy="540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HyperEdge P=0.85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30000" y="2520000"/>
            <a:ext cx="630000" cy="431999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720000" y="2520000"/>
            <a:ext cx="630000" cy="431999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90000" y="3491999"/>
            <a:ext cx="0" cy="468001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2 · Gaia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命题级 vs 实体级 — 范式转换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1620000"/>
          <a:ext cx="1080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endParaRPr/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传统 Knowledge Graph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Gaia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基本单元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Entity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Proposition (命题)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关系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Entity → Relation → Entity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Proposition → Reasoning → Proposition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示例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"Einstein bornIn Ulm"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"Einstein was born in Ulm" belief=0.99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真值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存了就是真的 (binary)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每条知识带可信度 (probabilistic)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矛盾处理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无法表示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Contradiction Edge (一等公民)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推理传播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无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Belief Propagation 自动传播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2 · Gaia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Contradiction Edge — 矛盾是一等公民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57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在 Gaia 中，矛盾不是 bug，是 feature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两个理论做出不同预测 → contradiction edge 连接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Belief Propagation 根据证据自动分配可信度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旧理论不删除，belief 下降 — 保留历史完整性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0000" y="1980000"/>
            <a:ext cx="1800000" cy="90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理论 A</a:t>
            </a:r>
            <a:br/>
            <a:r>
              <a:t>预测: 1.75"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0000" y="1980000"/>
            <a:ext cx="1800000" cy="90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理论 B</a:t>
            </a:r>
            <a:br/>
            <a:r>
              <a:t>预测: 0.87"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60000" y="2430000"/>
            <a:ext cx="720000" cy="0"/>
          </a:xfrm>
          <a:prstGeom prst="line">
            <a:avLst/>
          </a:prstGeom>
          <a:ln w="31750">
            <a:solidFill>
              <a:srgbClr val="D32F2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60000" y="3060000"/>
            <a:ext cx="25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D32F2F"/>
                </a:solidFill>
                <a:latin typeface="Helvetica Neue"/>
              </a:defRPr>
            </a:pPr>
            <a:r>
              <a:t>← Contradiction Edge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0000" y="3960000"/>
            <a:ext cx="1800000" cy="72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belief ↑ 0.85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0000" y="3960000"/>
            <a:ext cx="1800000" cy="720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belief ↓ 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0000" y="3600000"/>
            <a:ext cx="252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66666"/>
                </a:solidFill>
                <a:latin typeface="Helvetica Neue"/>
              </a:defRPr>
            </a:pPr>
            <a:r>
              <a:t>观测支持 A 后：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2 · Gaia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Factor Graph + Belief Propagation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1080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1A1A1A"/>
                </a:solidFill>
                <a:latin typeface="Menlo"/>
              </a:defRPr>
            </a:pPr>
            <a:r>
              <a:t>belief(结论) ∝ ∏ belief(前提ᵢ) × P(推理)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消息传递：前提可信度 × 推理可靠度 → 结论可信度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多条证据汇聚 → 结论更可靠 (corroboration)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矛盾证据 → 双方 belief 下降 (competition)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Loopy BP：大规模图上近似推断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0" y="2700000"/>
            <a:ext cx="1440000" cy="576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前提₁ 0.9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0" y="3600000"/>
            <a:ext cx="1440000" cy="576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前提₂ 0.8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000" y="3060000"/>
            <a:ext cx="900000" cy="720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</a:t>
            </a:r>
            <a:br/>
            <a:r>
              <a:t>P=0.9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000" y="3060000"/>
            <a:ext cx="1260000" cy="72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结论</a:t>
            </a:r>
            <a:br/>
            <a:r>
              <a:t>0.65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0000" y="2988000"/>
            <a:ext cx="540000" cy="252000"/>
          </a:xfrm>
          <a:prstGeom prst="line">
            <a:avLst/>
          </a:prstGeom>
          <a:ln w="25400">
            <a:solidFill>
              <a:srgbClr val="1B5E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640000" y="3600000"/>
            <a:ext cx="540000" cy="288000"/>
          </a:xfrm>
          <a:prstGeom prst="line">
            <a:avLst/>
          </a:prstGeom>
          <a:ln w="25400">
            <a:solidFill>
              <a:srgbClr val="1B5E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80000" y="3420000"/>
            <a:ext cx="540000" cy="0"/>
          </a:xfrm>
          <a:prstGeom prst="line">
            <a:avLst/>
          </a:prstGeom>
          <a:ln w="31750">
            <a:solidFill>
              <a:srgbClr val="EF6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20000" y="4320000"/>
            <a:ext cx="144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EF6C00"/>
                </a:solidFill>
                <a:latin typeface="Helvetica Neue"/>
              </a:defRPr>
            </a:pPr>
            <a:r>
              <a:t>msg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2 · Gaia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Git-like 提交工作流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5400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rPr dirty="0"/>
              <a:t>Submit: </a:t>
            </a:r>
            <a:r>
              <a:rPr dirty="0" err="1"/>
              <a:t>提交新知识（节点</a:t>
            </a:r>
            <a:r>
              <a:rPr dirty="0"/>
              <a:t> + </a:t>
            </a:r>
            <a:r>
              <a:rPr dirty="0" err="1"/>
              <a:t>超边</a:t>
            </a:r>
            <a:r>
              <a:rPr dirty="0"/>
              <a:t>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rPr dirty="0"/>
              <a:t>Review: </a:t>
            </a:r>
            <a:r>
              <a:rPr dirty="0" err="1"/>
              <a:t>自动质量检查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rPr dirty="0"/>
              <a:t>Merge: </a:t>
            </a:r>
            <a:r>
              <a:rPr dirty="0" err="1"/>
              <a:t>写入存储</a:t>
            </a:r>
            <a:r>
              <a:rPr dirty="0"/>
              <a:t> + </a:t>
            </a:r>
            <a:r>
              <a:rPr dirty="0" err="1"/>
              <a:t>触发</a:t>
            </a:r>
            <a:r>
              <a:rPr dirty="0"/>
              <a:t> BP </a:t>
            </a:r>
            <a:r>
              <a:rPr dirty="0" err="1"/>
              <a:t>传播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rPr dirty="0" err="1"/>
              <a:t>每一步都有质量门控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840000" y="2160000"/>
            <a:ext cx="1440000" cy="900000"/>
          </a:xfrm>
          <a:prstGeom prst="roundRect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Submit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80000" y="2610000"/>
            <a:ext cx="360000" cy="0"/>
          </a:xfrm>
          <a:prstGeom prst="line">
            <a:avLst/>
          </a:prstGeom>
          <a:ln w="381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40000" y="2160000"/>
            <a:ext cx="1440000" cy="90000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80000" y="2610000"/>
            <a:ext cx="360000" cy="0"/>
          </a:xfrm>
          <a:prstGeom prst="line">
            <a:avLst/>
          </a:prstGeom>
          <a:ln w="381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440000" y="2160000"/>
            <a:ext cx="1440000" cy="9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3240000"/>
            <a:ext cx="1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Helvetica Neue"/>
              </a:defRPr>
            </a:pPr>
            <a:r>
              <a:t>AddNode</a:t>
            </a:r>
            <a:br/>
            <a:r>
              <a:t>AddEdge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0" y="3240000"/>
            <a:ext cx="1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Helvetica Neue"/>
              </a:defRPr>
            </a:pPr>
            <a:r>
              <a:t>LLM 审查</a:t>
            </a:r>
            <a:br/>
            <a:r>
              <a:t>一致性检查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0000" y="3240000"/>
            <a:ext cx="1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Helvetica Neue"/>
              </a:defRPr>
            </a:pPr>
            <a:r>
              <a:t>Triple-Write</a:t>
            </a:r>
            <a:br/>
            <a:r>
              <a:t>BP 传播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3 · 伽利略思想实验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伽利略绑球实验 — 概述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7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1638 年伽利略《Discorsi》: 一个思想实验推翻 2000 年学说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6 个 knowledge package，跨越 2300 年: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1  亚里士多德先验 → 建立 v∝W (0.70)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 b="1">
                <a:solidFill>
                  <a:srgbClr val="FFAB40"/>
                </a:solidFill>
                <a:latin typeface="Helvetica Neue"/>
              </a:rPr>
              <a:t xml:space="preserve">  Pkg 2  绑球悖论 → Contradiction① → v∝W 降至 0.35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3  密度观察 → 空气阻力才是真因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4  真空预测 → 去掉空气，所有物体等速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 b="1">
                <a:solidFill>
                  <a:srgbClr val="FFAB40"/>
                </a:solidFill>
                <a:latin typeface="Helvetica Neue"/>
              </a:rPr>
              <a:t xml:space="preserve">  Pkg 5  牛顿 F=ma → Contradiction② → v∝W 降至 0.12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6  Apollo 15 → 月球真空实验 → v∝W 降至 0.05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演示 Gaia 核心机制: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 b="1">
                <a:solidFill>
                  <a:srgbClr val="FFAB40"/>
                </a:solidFill>
                <a:latin typeface="Helvetica Neue"/>
              </a:rPr>
              <a:t xml:space="preserve">  • contradiction edge 驱动 belief 修正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• 三条独立证据线汇聚 → 高 belief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• 旧理论不删除，belief 自然下降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20000" y="5220000"/>
            <a:ext cx="10440000" cy="0"/>
          </a:xfrm>
          <a:prstGeom prst="line">
            <a:avLst/>
          </a:prstGeom>
          <a:ln w="25400">
            <a:solidFill>
              <a:srgbClr val="1B5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51999" y="5040000"/>
            <a:ext cx="324000" cy="324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000" y="5580000"/>
            <a:ext cx="144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66666"/>
                </a:solidFill>
                <a:latin typeface="Helvetica Neue"/>
              </a:defRPr>
            </a:pPr>
            <a:r>
              <a:t>Pkg 1</a:t>
            </a:r>
            <a:br/>
            <a:r>
              <a:t>350 BCE</a:t>
            </a:r>
            <a:br/>
            <a:r>
              <a:t>亚里士多德</a:t>
            </a:r>
          </a:p>
        </p:txBody>
      </p:sp>
      <p:sp>
        <p:nvSpPr>
          <p:cNvPr id="9" name="Oval 8"/>
          <p:cNvSpPr/>
          <p:nvPr/>
        </p:nvSpPr>
        <p:spPr>
          <a:xfrm>
            <a:off x="3311999" y="5040000"/>
            <a:ext cx="324000" cy="324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000" y="5580000"/>
            <a:ext cx="144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66666"/>
                </a:solidFill>
                <a:latin typeface="Helvetica Neue"/>
              </a:defRPr>
            </a:pPr>
            <a:r>
              <a:t>Pkg 2</a:t>
            </a:r>
            <a:br/>
            <a:r>
              <a:t>1638</a:t>
            </a:r>
            <a:br/>
            <a:r>
              <a:t>绑球悖论</a:t>
            </a:r>
          </a:p>
        </p:txBody>
      </p:sp>
      <p:sp>
        <p:nvSpPr>
          <p:cNvPr id="11" name="Oval 10"/>
          <p:cNvSpPr/>
          <p:nvPr/>
        </p:nvSpPr>
        <p:spPr>
          <a:xfrm>
            <a:off x="5471999" y="5040000"/>
            <a:ext cx="324000" cy="324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0000" y="5580000"/>
            <a:ext cx="144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66666"/>
                </a:solidFill>
                <a:latin typeface="Helvetica Neue"/>
              </a:defRPr>
            </a:pPr>
            <a:r>
              <a:t>Pkg 3-4</a:t>
            </a:r>
            <a:br/>
            <a:r>
              <a:t>1638</a:t>
            </a:r>
            <a:br/>
            <a:r>
              <a:t>密度+真空</a:t>
            </a:r>
          </a:p>
        </p:txBody>
      </p:sp>
      <p:sp>
        <p:nvSpPr>
          <p:cNvPr id="13" name="Oval 12"/>
          <p:cNvSpPr/>
          <p:nvPr/>
        </p:nvSpPr>
        <p:spPr>
          <a:xfrm>
            <a:off x="7631999" y="5040000"/>
            <a:ext cx="324000" cy="324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0" y="5580000"/>
            <a:ext cx="144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66666"/>
                </a:solidFill>
                <a:latin typeface="Helvetica Neue"/>
              </a:defRPr>
            </a:pPr>
            <a:r>
              <a:t>Pkg 5</a:t>
            </a:r>
            <a:br/>
            <a:r>
              <a:t>1687</a:t>
            </a:r>
            <a:br/>
            <a:r>
              <a:t>牛顿</a:t>
            </a:r>
          </a:p>
        </p:txBody>
      </p:sp>
      <p:sp>
        <p:nvSpPr>
          <p:cNvPr id="15" name="Oval 14"/>
          <p:cNvSpPr/>
          <p:nvPr/>
        </p:nvSpPr>
        <p:spPr>
          <a:xfrm>
            <a:off x="9791999" y="5040000"/>
            <a:ext cx="324000" cy="324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0000" y="5580000"/>
            <a:ext cx="144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66666"/>
                </a:solidFill>
                <a:latin typeface="Helvetica Neue"/>
              </a:defRPr>
            </a:pPr>
            <a:r>
              <a:t>Pkg 6</a:t>
            </a:r>
            <a:br/>
            <a:r>
              <a:t>1971</a:t>
            </a:r>
            <a:br/>
            <a:r>
              <a:t>Apollo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1800000"/>
            <a:ext cx="360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5E9F"/>
                </a:solidFill>
                <a:latin typeface="Helvetica Neue"/>
              </a:defRPr>
            </a:pPr>
            <a:r>
              <a:t>v ∝ W belief 轨迹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2340000"/>
            <a:ext cx="216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Helvetica Neue"/>
              </a:defRPr>
            </a:pPr>
            <a:r>
              <a:t>Pkg 1  先验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0000" y="2340000"/>
            <a:ext cx="108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666666"/>
                </a:solidFill>
                <a:latin typeface="Helvetica Neue"/>
              </a:defRPr>
            </a:pPr>
            <a:r>
              <a:t>0.70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2880000"/>
            <a:ext cx="216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Helvetica Neue"/>
              </a:defRPr>
            </a:pPr>
            <a:r>
              <a:t>Pkg 2  绑球矛盾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40000" y="2880000"/>
            <a:ext cx="108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F6C00"/>
                </a:solidFill>
                <a:latin typeface="Helvetica Neue"/>
              </a:defRPr>
            </a:pPr>
            <a:r>
              <a:t>0.35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0" y="3420000"/>
            <a:ext cx="216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Helvetica Neue"/>
              </a:defRPr>
            </a:pPr>
            <a:r>
              <a:t>Pkg 3-4 密度+真空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0000" y="3420000"/>
            <a:ext cx="108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F6C00"/>
                </a:solidFill>
                <a:latin typeface="Helvetica Neue"/>
              </a:defRPr>
            </a:pPr>
            <a:r>
              <a:t>0.28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0" y="3960000"/>
            <a:ext cx="216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Helvetica Neue"/>
              </a:defRPr>
            </a:pPr>
            <a:r>
              <a:t>Pkg 5  Newton a=g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0" y="3960000"/>
            <a:ext cx="108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D32F2F"/>
                </a:solidFill>
                <a:latin typeface="Helvetica Neue"/>
              </a:defRPr>
            </a:pPr>
            <a:r>
              <a:t>0.12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4500000"/>
            <a:ext cx="216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Helvetica Neue"/>
              </a:defRPr>
            </a:pPr>
            <a:r>
              <a:t>Pkg 6  Apollo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0000" y="4500000"/>
            <a:ext cx="108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D32F2F"/>
                </a:solidFill>
                <a:latin typeface="Helvetica Neue"/>
              </a:defRPr>
            </a:pPr>
            <a:r>
              <a:t>0.05 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3 · 伽利略思想实验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1: 亚里士多德的物理学 — 建立基线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4860000" cy="50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init galileo_tied_balls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1: aristotle_physics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前提: 亚里士多德自然运动学说 (c.350 BCE)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"自然运动学说: 重物自然趋向下方,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下落速度取决于重量"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0.90 --type paper-extract  → 5001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"日常观察: 石头比树叶先落地"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0.95                       → 5002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从学说+观察 归纳出一般定律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5001,5002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5003 --type abstraction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5003 "v ∝ W: 越重越快" prior=0.70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commit -m "aristotle_physics"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propagate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5003 (v ∝ W): belief = 0.70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># ✓ 这就是 2000 年间公认的物理学常识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150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亚里士多德先验知识图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2160000"/>
            <a:ext cx="2340000" cy="720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自然运动学说: 重物趋下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0000" y="2160000"/>
            <a:ext cx="2340000" cy="720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日常观察: 石头&gt;叶子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10000" y="2880000"/>
            <a:ext cx="810000" cy="720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360000" y="2880000"/>
            <a:ext cx="630000" cy="720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00000" y="306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99999"/>
                </a:solidFill>
              </a:defRPr>
            </a:pPr>
            <a:r>
              <a:t>abstraction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0" y="3600000"/>
            <a:ext cx="2880000" cy="900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5003: v ∝ W 定律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越重越快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belief = 0.70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504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BBBBB"/>
                </a:solidFill>
              </a:defRPr>
            </a:pPr>
            <a:r>
              <a:t>这是 2000 年间被广泛接受的"常识"</a:t>
            </a:r>
            <a:br/>
            <a:r>
              <a:t>接下来伽利略将用纯推理推翻它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3 · 伽利略思想实验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2: 绑球悖论 — 纯推理推翻千年学说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4860000" cy="50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2: galileo1638_tied_balls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核心思想实验: 绑球悖论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"设定: 重球H绑轻球L"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0.99                       → 5004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推导A: L比H慢，L拖慢H → 组合HL比H更慢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5003,5004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5005 --type deduction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5005 "HL比H更慢" (L拖慢了H)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推导B: HL总重&gt;H → 组合HL比H更快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5003,5004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5006 --type deduction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5006 "HL比H更快" (更重=更快)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D54F"/>
                </a:solidFill>
                <a:latin typeface="Helvetica Neue"/>
              </a:rPr>
              <a:t># ★ 同一物体不可能既更快又更慢!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5005,5006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AB40"/>
                </a:solidFill>
                <a:latin typeface="Helvetica Neue"/>
              </a:rPr>
              <a:t xml:space="preserve">    --type contradiction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commit &amp;&amp; gaia propagate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8A80"/>
                </a:solidFill>
                <a:latin typeface="Helvetica Neue"/>
              </a:rPr>
              <a:t xml:space="preserve">  5003 (v∝W): 0.70→0.35 ↓  矛盾回传到前提!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5008 (v∝W自相矛盾): belief=0.82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150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绑球悖论: 同一前提推出矛盾结论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2016000"/>
            <a:ext cx="1980000" cy="648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5003: v∝W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belief=0.70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000" y="2016000"/>
            <a:ext cx="1980000" cy="648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5004: 设定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重球H绑轻球L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570000" y="2664000"/>
            <a:ext cx="360000" cy="576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30000" y="2664000"/>
            <a:ext cx="2880000" cy="576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930000" y="2664000"/>
            <a:ext cx="3240000" cy="576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70000" y="2664000"/>
            <a:ext cx="0" cy="576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80000" y="3240000"/>
            <a:ext cx="2340000" cy="756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5005: 推导A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L拖慢H → HL更慢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0" y="3240000"/>
            <a:ext cx="2340000" cy="756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5006: 推导B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HL更重 → HL更快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20000" y="3618000"/>
            <a:ext cx="1080000" cy="0"/>
          </a:xfrm>
          <a:prstGeom prst="line">
            <a:avLst/>
          </a:prstGeom>
          <a:ln w="25400">
            <a:solidFill>
              <a:srgbClr val="F443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40000" y="3996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44336"/>
                </a:solidFill>
              </a:defRPr>
            </a:pPr>
            <a:r>
              <a:t>CONTRADICTION ①</a:t>
            </a:r>
            <a:br/>
            <a:r>
              <a:t>同一物体不可能</a:t>
            </a:r>
            <a:br/>
            <a:r>
              <a:t>既更快又更慢!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80000" y="4428000"/>
            <a:ext cx="0" cy="432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40000" y="4860000"/>
            <a:ext cx="3240000" cy="756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5008: v∝W 必然错误!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两条推导都合法，前提必须有错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5760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FF8A80"/>
                </a:solidFill>
              </a:defRPr>
            </a:pPr>
            <a:r>
              <a:t>5003 (v∝W): 0.70 → 0.35 ↓   矛盾回传到共享前提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3 · 伽利略思想实验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3-4: 密度观察 → 真空等速预测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4860000" cy="198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3: medium_density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伽利略的下一步: 解释为何亚里士多德"看起来"对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"观察: 水中落速差异 &gt; 空气中"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0.90                       → 5009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"规律: 介质越稀，差异越小"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0.85                       → 5010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5009,5010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5011 --type deduction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D54F"/>
                </a:solidFill>
                <a:latin typeface="Helvetica Neue"/>
              </a:rPr>
              <a:t xml:space="preserve">  → 5011 "★ 空气阻力才是混淆因素"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 xml:space="preserve">  # 石头快于叶子不是因为更重，而是空气阻力不同!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4: vacuum_prediction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逻辑推论: 若差异来自介质 → 去掉介质则差异消失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5008,5011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5012 --type deduction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D54F"/>
                </a:solidFill>
                <a:latin typeface="Helvetica Neue"/>
              </a:rPr>
              <a:t xml:space="preserve">  → 5012 "★ 真空中所有物体等速下落"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"斜面实验: 不同球同时到底"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0.90  # 部分验证            → 5013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commit &amp;&amp; gaia propagate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5012 (真空等速): belief=0.78 ↑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8A80"/>
                </a:solidFill>
                <a:latin typeface="Helvetica Neue"/>
              </a:rPr>
              <a:t xml:space="preserve">  5003 (v∝W): 0.35→0.28 ↓  替代解释进一步削弱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150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找到真正原因 → 做出可验证的预测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0000" y="190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99999"/>
                </a:solidFill>
              </a:defRPr>
            </a:pPr>
            <a:r>
              <a:t>Pkg 3: 密度观察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0000" y="2196000"/>
            <a:ext cx="2160000" cy="576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5009: 水中差异更大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5010: 介质越稀差异越小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20000" y="2772000"/>
            <a:ext cx="0" cy="360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0000" y="3132000"/>
            <a:ext cx="2520000" cy="648000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★ 5011: 空气阻力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才是混淆因素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000" y="190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99999"/>
                </a:solidFill>
              </a:defRPr>
            </a:pPr>
            <a:r>
              <a:t>Pkg 4: 真空预测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0" y="2196000"/>
            <a:ext cx="2160000" cy="576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5008: v∝W 错误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(来自 Pkg 2)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60000" y="3456000"/>
            <a:ext cx="720000" cy="576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360000" y="2772000"/>
            <a:ext cx="720000" cy="1260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80000" y="352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99999"/>
                </a:solidFill>
              </a:defRPr>
            </a:pPr>
            <a:r>
              <a:t>v∝W错 + 空气阻力</a:t>
            </a:r>
            <a:br/>
            <a:r>
              <a:t>→ 去掉空气 = 等速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0" y="4032000"/>
            <a:ext cx="3060000" cy="648000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★ 5012: 真空等速预测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真空中所有物体等速下落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0000" y="4968000"/>
            <a:ext cx="2340000" cy="576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5013: 斜面实验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部分验证 ✓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30000" y="4680000"/>
            <a:ext cx="0" cy="288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60000" y="5688000"/>
            <a:ext cx="57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FFD54F"/>
                </a:solidFill>
              </a:defRPr>
            </a:pPr>
            <a:r>
              <a:t>伽利略两大结论:</a:t>
            </a:r>
            <a:br/>
            <a:r>
              <a:t>① 石头快于叶子是因为空气阻力，不是因为更重</a:t>
            </a:r>
            <a:br/>
            <a:r>
              <a:t>② 在真空中，所有物体等速下落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3 · 伽利略思想实验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5: 牛顿力学 — 第二条独立矛盾线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4860000" cy="50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5: newton1687_principia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50年后: 牛顿从第一性原理独立推导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"F = ma (牛顿第二定律)"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0.95                       → 5015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"F = mg (万有引力)"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0.95                       → 5016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F=ma=mg → 两边除以m → a=g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5015,5016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5017 --type deduction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5017 "a = g: 加速度与质量无关!"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AB40"/>
                </a:solidFill>
                <a:latin typeface="Helvetica Neue"/>
              </a:rPr>
              <a:t># ★ 第二条矛盾线: Newton a=g vs Aristotle v∝W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5003,5017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AB40"/>
                </a:solidFill>
                <a:latin typeface="Helvetica Neue"/>
              </a:rPr>
              <a:t xml:space="preserve">    --type contradiction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牛顿独立确认伽利略的真空预测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5017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5012 --type deduction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commit &amp;&amp; gaia propagate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8A80"/>
                </a:solidFill>
                <a:latin typeface="Helvetica Neue"/>
              </a:rPr>
              <a:t xml:space="preserve">  5003 (v∝W): 0.28→0.12 ↓↓  两条矛盾线夹击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5017 (a=g): belief=0.93 ↑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5012 (真空等速): 0.78→0.87 ↑  理论+逻辑双支撑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150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独立的理论推导: 第二条矛盾线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2088000"/>
            <a:ext cx="1800000" cy="576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5015: F = ma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牛顿第二定律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000" y="2088000"/>
            <a:ext cx="1800000" cy="576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5016: F = mg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万有引力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20000" y="2664000"/>
            <a:ext cx="900000" cy="504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360000" y="2664000"/>
            <a:ext cx="720000" cy="504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40000" y="27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9F0AE"/>
                </a:solidFill>
              </a:defRPr>
            </a:pPr>
            <a:r>
              <a:t>ma = mg → a = g</a:t>
            </a:r>
            <a:br/>
            <a:r>
              <a:t>质量约掉了!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0" y="3168000"/>
            <a:ext cx="2880000" cy="72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5017: a = 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加速度与质量无关!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0000" y="4392000"/>
            <a:ext cx="1980000" cy="648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5003: v∝W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0.28 → 0.12 ↓↓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920000" y="3888000"/>
            <a:ext cx="0" cy="828000"/>
          </a:xfrm>
          <a:prstGeom prst="line">
            <a:avLst/>
          </a:prstGeom>
          <a:ln w="25400">
            <a:solidFill>
              <a:srgbClr val="F443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40000" y="403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44336"/>
                </a:solidFill>
              </a:defRPr>
            </a:pPr>
            <a:r>
              <a:t>CONTRADICTION ②</a:t>
            </a:r>
            <a:br/>
            <a:r>
              <a:t>Newton a=g vs</a:t>
            </a:r>
            <a:br/>
            <a:r>
              <a:t>Aristotle v∝W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000" y="4392000"/>
            <a:ext cx="2160000" cy="648000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5012: 真空等速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0.78 → 0.87 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60000" y="3888000"/>
            <a:ext cx="900000" cy="504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60000" y="388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99999"/>
                </a:solidFill>
              </a:defRPr>
            </a:pPr>
            <a:r>
              <a:t>独立理论确认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540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BBBBB"/>
                </a:solidFill>
              </a:defRPr>
            </a:pPr>
            <a:r>
              <a:t>牛顿力学从 F=ma, F=mg 独立推导出 a=g</a:t>
            </a:r>
            <a:br/>
            <a:r>
              <a:t>这是第二条完全独立的矛盾线</a:t>
            </a:r>
            <a:br/>
            <a:r>
              <a:t>同时从理论上确认了伽利略的真空等速预测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3 · 伽利略思想实验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6: Apollo 15 — 决定性实验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4860000" cy="50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6: apollo15_feather_drop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  <a:latin typeface="Helvetica Neue"/>
              </a:rPr>
              <a:t># 1971: 人类首次在真空中直接验证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"月球: 近乎真空"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0.99                       → 5018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"锤子(1.32kg) = 羽毛(0.03kg)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同时落地 (质量比44:1!)"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--prior 0.99                       → 5019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5018,5019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5020 --type deduction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commit -m "apollo15"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propagate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8A80"/>
                </a:solidFill>
                <a:latin typeface="Helvetica Neue"/>
              </a:rPr>
              <a:t xml:space="preserve">  5003 (v∝W): 0.12→0.05 ↓  几乎归零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5012 (真空等速): 0.87→0.95 ↑  三线汇聚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5017 (a=g): 0.93→0.96 ↑  理论+实验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5020 (月球验证): belief=0.98 ↑  决定性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 xml:space="preserve">$ gaia test   </a:t>
            </a:r>
            <a:r>
              <a:rPr lang="en-US" dirty="0">
                <a:solidFill>
                  <a:srgbClr val="808888"/>
                </a:solidFill>
                <a:latin typeface="Helvetica Neue"/>
              </a:rPr>
              <a:t xml:space="preserve">  # 验证 beliefs.yaml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publish</a:t>
            </a:r>
            <a:r>
              <a:rPr lang="en-US" dirty="0">
                <a:solidFill>
                  <a:srgbClr val="808888"/>
                </a:solidFill>
                <a:latin typeface="Helvetica Neue"/>
              </a:rPr>
              <a:t xml:space="preserve">  # → 远程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150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三条独立证据线汇聚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2088000"/>
            <a:ext cx="1620000" cy="64800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① 逻辑矛盾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绑球悖论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2088000"/>
            <a:ext cx="27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BBBBBB"/>
                </a:solidFill>
              </a:defRPr>
            </a:pPr>
            <a:r>
              <a:t>Pkg 2: 纯推理</a:t>
            </a:r>
            <a:br/>
            <a:r>
              <a:t>从v∝W自身推出矛盾</a:t>
            </a:r>
            <a:br/>
            <a:r>
              <a:t>Contradiction Edge 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3060000"/>
            <a:ext cx="1620000" cy="64800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② 理论推导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Newton a=g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0" y="3060000"/>
            <a:ext cx="27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BBBBBB"/>
                </a:solidFill>
              </a:defRPr>
            </a:pPr>
            <a:r>
              <a:t>Pkg 5: F=ma, F=mg → a=g</a:t>
            </a:r>
            <a:br/>
            <a:r>
              <a:t>从第一性原理独立推导</a:t>
            </a:r>
            <a:br/>
            <a:r>
              <a:t>Contradiction Edge 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4032000"/>
            <a:ext cx="1620000" cy="64800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③ 直接实验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</a:defRPr>
            </a:pPr>
            <a:r>
              <a:t>Apollo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0" y="4032000"/>
            <a:ext cx="27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BBBBBB"/>
                </a:solidFill>
              </a:defRPr>
            </a:pPr>
            <a:r>
              <a:t>Pkg 6: 月球真空中</a:t>
            </a:r>
            <a:br/>
            <a:r>
              <a:t>锤子=羽毛 (质量比44:1)</a:t>
            </a:r>
            <a:br/>
            <a:r>
              <a:t>直接实验证实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30000" y="2736000"/>
            <a:ext cx="1710000" cy="2304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30000" y="3708000"/>
            <a:ext cx="1710000" cy="1332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30000" y="4680000"/>
            <a:ext cx="1710000" cy="360000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40000" y="5040000"/>
            <a:ext cx="3240000" cy="9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5012: 真空等速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belief = 0.95+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三线汇聚 → 高确信度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6048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99999"/>
                </a:solidFill>
              </a:defRPr>
            </a:pPr>
            <a:r>
              <a:t>旧理论不删除，belief 自然下降；全程只 add node+edge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4 · 爱因斯坦思想实验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爱因斯坦电梯 — 概述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5040000" cy="50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1919 年日食远征: 观测证实广义相对论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5 个 knowledge package，跨越 200 年: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1  先验知识 (Newton, Maxwell, Eötvös)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2  等效原理 (电梯思想实验)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3  1911 光偏折预测 (0.87″)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4  广义相对论 → 1.75″ (定量矛盾!)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Pkg 5  Eddington 日食观测 → 判决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演示 Gaia 如何处理: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• 同一现象的竞争理论 (Newton vs GR)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• 定量矛盾 (0.87″ vs 1.75″)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• 观测证据的判决性作用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4 · 爱因斯坦思想实验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1-3: 先验知识 → 等效原理 → 1911 预测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5040000" cy="50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init einstein_elevator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1: prior_knowledge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"F=mᵢa" --prior 0.95        → 6001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"F=GMm/r²" --prior 0.95     → 6002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"光的微粒说" --prior 0.50     → 6003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"Maxwell EM" --prior 0.90    → 6005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"Eötvös mᵢ=mᵍ" --prior 0.95 → 6006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6001,6002,6003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  --head 6004 --type deduction  P=0.60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6004 "Soldner: 0.87″" prior=0.60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2: equivalence_principle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node add "电梯思想实验" --prior 1.0  → 6007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6006,6007 --head 6008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6008 "等效原理" belief≈0.85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6008,6005 --head 6009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6009 "光在引力场弯曲"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  <a:latin typeface="Helvetica Neue"/>
              </a:rPr>
              <a:t># ═══ Pkg 3: 1911_light_deflection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edge add --tail 6009 --head 6010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  <a:latin typeface="Helvetica Neue"/>
              </a:rPr>
              <a:t xml:space="preserve">  → 6010 "Einstein: 0.87″" belief≈0.80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  <a:latin typeface="Helvetica Neue"/>
              </a:rPr>
              <a:t>$ gaia commit &amp;&amp; gaia propagate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AB40"/>
                </a:solidFill>
                <a:latin typeface="Helvetica Neue"/>
              </a:rPr>
              <a:t># ⚠ 6004 = 6010 = 0.87″  此时无矛盾!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4 · 爱因斯坦思想实验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4: 广义相对论 — 定量矛盾出现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5040000" cy="50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</a:rPr>
              <a:t># ═══ Pkg 4: general_relativity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node add "GR: Gμν=8πGTμν"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 xml:space="preserve">    --prior 0.85                      → 6012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edge add --tail 6012,6008 --head 6013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</a:rPr>
              <a:t xml:space="preserve">  → 6013 "光沿零测地线 (时间+空间弯曲)"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edge add --tail 6013 --head 6014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</a:rPr>
              <a:t xml:space="preserve">  → 6014 "GR: 1.75″ = 2×0.87″"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node add "水星进动 43″/世纪"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 xml:space="preserve">    --prior 0.90                      → 6015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edge add --tail 6012 --head 6015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AB40"/>
                </a:solidFill>
              </a:rPr>
              <a:t># 关键: GR vs Newton 定量矛盾!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edge add --tail 6014,6004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AB40"/>
                </a:solidFill>
              </a:rPr>
              <a:t xml:space="preserve">    --type contradiction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</a:rPr>
              <a:t xml:space="preserve">  # 1.75″ vs 0.87″ — 精确 2× 差异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commit -m "general_relativity"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propagate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 xml:space="preserve">  6014 (GR 1.75″): belief=0.85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8A80"/>
                </a:solidFill>
              </a:rPr>
              <a:t xml:space="preserve">  6004 (Newton 0.87″): 0.60→0.40 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1620000"/>
            <a:ext cx="1800000" cy="648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6012 广义相对论</a:t>
            </a:r>
            <a:br/>
            <a:r>
              <a:t>belief=0.85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0000" y="1620000"/>
            <a:ext cx="1620000" cy="6480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6008 等效原理</a:t>
            </a:r>
            <a:br/>
            <a:r>
              <a:t>belief=0.85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0000" y="2700000"/>
            <a:ext cx="2160000" cy="648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6013 零测地线 (时间+空间)</a:t>
            </a:r>
            <a:br/>
            <a:r>
              <a:t>belief=0.85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00000" y="2268000"/>
            <a:ext cx="360000" cy="432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80000" y="2268000"/>
            <a:ext cx="1170000" cy="432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0000" y="3780000"/>
            <a:ext cx="1980000" cy="792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6014</a:t>
            </a:r>
            <a:br/>
            <a:r>
              <a:t>GR: 1.75"</a:t>
            </a:r>
            <a:br/>
            <a:r>
              <a:t>belief 0.85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200000" y="3348000"/>
            <a:ext cx="720000" cy="432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80000" y="3780000"/>
            <a:ext cx="1980000" cy="792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6004</a:t>
            </a:r>
            <a:br/>
            <a:r>
              <a:t>Newton: 0.87"</a:t>
            </a:r>
            <a:br/>
            <a:r>
              <a:t>belief 0.60→0.40↓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00000" y="4176000"/>
            <a:ext cx="1080000" cy="0"/>
          </a:xfrm>
          <a:prstGeom prst="line">
            <a:avLst/>
          </a:prstGeom>
          <a:ln w="31750">
            <a:solidFill>
              <a:srgbClr val="D32F2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08000" y="4680000"/>
            <a:ext cx="1980000" cy="648000"/>
          </a:xfrm>
          <a:prstGeom prst="roundRect">
            <a:avLst/>
          </a:prstGeom>
          <a:solidFill>
            <a:srgbClr val="FDE0E0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32F2F"/>
                </a:solidFill>
              </a:defRPr>
            </a:pPr>
            <a:r>
              <a:t>CONTRADICTION</a:t>
            </a:r>
            <a:br/>
            <a:r>
              <a:t>1.75" vs 0.87" (2×)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000" y="5400000"/>
            <a:ext cx="1800000" cy="648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6015 水星进动</a:t>
            </a:r>
            <a:br/>
            <a:r>
              <a:t>43"/century  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0000" y="2268000"/>
            <a:ext cx="0" cy="3132000"/>
          </a:xfrm>
          <a:prstGeom prst="line">
            <a:avLst/>
          </a:prstGeom>
          <a:ln w="25400">
            <a:solidFill>
              <a:srgbClr val="E0E0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40000" y="5580000"/>
            <a:ext cx="32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</a:defRPr>
            </a:pPr>
            <a:r>
              <a:t>GR 两个独立预测成功 → 6012 belief 强化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4 · 爱因斯坦思想实验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Pkg 5: Eddington 1919 — 判决 + Belief 全景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512000"/>
            <a:ext cx="5040000" cy="288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108000" rIns="108000" bIns="10800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FFFF"/>
                </a:solidFill>
              </a:rPr>
              <a:t># ═══ Pkg 5: eddington1919_eclipse ═══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node add "日食远征(Sobral+Príncipe)"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 xml:space="preserve">    --prior 0.95                      → 6017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node add "观测 1.61±0.30″ / 1.98±0.16″"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 xml:space="preserve">    --prior 0.90                      → 6018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edge add --tail 6017,6018 --head 6019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69F0AE"/>
                </a:solidFill>
              </a:rPr>
              <a:t xml:space="preserve">  → 6019 "观测支持 GR, 排除 Newton"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808888"/>
                </a:solidFill>
              </a:rPr>
              <a:t># 观测 vs 牛顿: 实验排除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edge add --tail 6019,6004 \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 b="1">
                <a:solidFill>
                  <a:srgbClr val="FFAB40"/>
                </a:solidFill>
              </a:rPr>
              <a:t xml:space="preserve">    --type contradiction  # ~1.7″ vs 0.87″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</a:rPr>
              <a:t/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commit -m "eddington1919"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publish</a:t>
            </a:r>
            <a:r>
              <a:rPr lang="en-US" dirty="0">
                <a:solidFill>
                  <a:srgbClr val="808888"/>
                </a:solidFill>
              </a:rPr>
              <a:t xml:space="preserve">  # → 远程 registry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review &lt;commit_id&gt;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5CC9F5"/>
                </a:solidFill>
              </a:rPr>
              <a:t>$ gaia merge &lt;commit_id&gt;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8A80"/>
                </a:solidFill>
              </a:rPr>
              <a:t xml:space="preserve">  6004: 0.40→0.10 ↓↓</a:t>
            </a:r>
            <a:r>
              <a:rPr lang="en-US" dirty="0">
                <a:solidFill>
                  <a:srgbClr val="69F0AE"/>
                </a:solidFill>
              </a:rPr>
              <a:t xml:space="preserve">  6014: →0.95 ↑↑</a:t>
            </a:r>
          </a:p>
          <a:p>
            <a:pPr>
              <a:spcAft>
                <a:spcPts val="100"/>
              </a:spcAft>
              <a:defRPr sz="1100">
                <a:solidFill>
                  <a:srgbClr val="6A9F55"/>
                </a:solidFill>
                <a:latin typeface="Helvetica Neue"/>
              </a:defRPr>
            </a:pPr>
            <a:r>
              <a:rPr lang="en-US" dirty="0">
                <a:solidFill>
                  <a:srgbClr val="FF8A80"/>
                </a:solidFill>
              </a:rPr>
              <a:t xml:space="preserve">  6002 (Newton引力): 0.95→0.80 ↓ 降级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4680000"/>
          <a:ext cx="50400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节点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含义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初始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最终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6004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Soldner 0.87"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0.60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0.10 ↓↓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6014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GR 1.75"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0.85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0.95 ↑↑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6012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广义相对论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0.85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0.95 ↑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6002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Newton 引力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0.95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0.80 (降级)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6020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GR confirmed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0.90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0.95 ↑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512000"/>
            <a:ext cx="3600000" cy="4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A1A1A"/>
                </a:solidFill>
                <a:latin typeface="Helvetica Neue"/>
              </a:defRPr>
            </a:pPr>
            <a:r>
              <a:t>观测判决后的最终图: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980000"/>
            <a:ext cx="2160000" cy="648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6018 观测: 1.61"/1.98"</a:t>
            </a:r>
            <a:br/>
            <a:r>
              <a:t>(≈1.7")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3240000"/>
            <a:ext cx="1980000" cy="792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6014 GR: 1.75"</a:t>
            </a:r>
            <a:br/>
            <a:r>
              <a:t>belief → 0.95 ↑↑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000" y="3240000"/>
            <a:ext cx="1980000" cy="79200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6004 Newton: 0.87"</a:t>
            </a:r>
            <a:br/>
            <a:r>
              <a:t>belief → 0.10 ↓↓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110000" y="2628000"/>
            <a:ext cx="90000" cy="612000"/>
          </a:xfrm>
          <a:prstGeom prst="line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0000" y="2808000"/>
            <a:ext cx="108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E7D32"/>
                </a:solidFill>
                <a:latin typeface="Helvetica Neue"/>
              </a:defRPr>
            </a:pPr>
            <a:r>
              <a:t>✓ 吻合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0000" y="2628000"/>
            <a:ext cx="1530000" cy="612000"/>
          </a:xfrm>
          <a:prstGeom prst="line">
            <a:avLst/>
          </a:prstGeom>
          <a:ln w="31750">
            <a:solidFill>
              <a:srgbClr val="D32F2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60000" y="2700000"/>
            <a:ext cx="144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D32F2F"/>
                </a:solidFill>
                <a:latin typeface="Helvetica Neue"/>
              </a:defRPr>
            </a:pPr>
            <a:r>
              <a:t>✕ 2σ+ 偏离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00000" y="3636000"/>
            <a:ext cx="1080000" cy="0"/>
          </a:xfrm>
          <a:prstGeom prst="line">
            <a:avLst/>
          </a:prstGeom>
          <a:ln w="31750">
            <a:solidFill>
              <a:srgbClr val="D32F2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0000" y="4680000"/>
            <a:ext cx="1980000" cy="648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6012 广义相对论</a:t>
            </a:r>
            <a:br/>
            <a:r>
              <a:t>belief → 0.95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000" y="4680000"/>
            <a:ext cx="1980000" cy="64800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t>6002 Newton 引力</a:t>
            </a:r>
            <a:br/>
            <a:r>
              <a:t>belief → 0.80 (降级)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10000" y="4031999"/>
            <a:ext cx="0" cy="648001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70000" y="4031999"/>
            <a:ext cx="0" cy="648001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0000" y="5580000"/>
            <a:ext cx="576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5E9F"/>
                </a:solidFill>
                <a:latin typeface="Helvetica Neue"/>
              </a:defRPr>
            </a:pPr>
            <a:r>
              <a:t>理论演替而非覆盖: Newton 降级为弱场近似，不删除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5 · 知识包管理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知识包 = 论文 / 理论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57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类比 Cargo / npm：论文 = crate / package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gaia.toml 声明包元数据 + 依赖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packages/*.yaml 定义节点和边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可版本化、可声明依赖、可追踪变更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[package]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name = "galileo_tied_balls"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version = "1.0.0"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[[packages]]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name = "aristotle_physics"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order = 1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[[packages]]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name = "galileo1638_tied_balls"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order = 2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depends_on = ["aristotle_physics"]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0" y="1800000"/>
            <a:ext cx="1620000" cy="72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Aristotle</a:t>
            </a:r>
            <a:br/>
            <a:r>
              <a:t>350 BCE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0" y="3060000"/>
            <a:ext cx="1620000" cy="72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Galileo</a:t>
            </a:r>
            <a:br/>
            <a:r>
              <a:t>1638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0000" y="3060000"/>
            <a:ext cx="1620000" cy="72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Medium</a:t>
            </a:r>
            <a:br/>
            <a:r>
              <a:t>1638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0000" y="4320000"/>
            <a:ext cx="1620000" cy="72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Newton</a:t>
            </a:r>
            <a:br/>
            <a:r>
              <a:t>1687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40000" y="4320000"/>
            <a:ext cx="1620000" cy="72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Apollo 15</a:t>
            </a:r>
            <a:br/>
            <a:r>
              <a:t>1971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10000" y="2520000"/>
            <a:ext cx="0" cy="54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10000" y="3780000"/>
            <a:ext cx="810000" cy="54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360000" y="3780000"/>
            <a:ext cx="810000" cy="54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090000" y="4320000"/>
            <a:ext cx="1710000" cy="72000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5 · 知识包管理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为什么包管理和 Gaia 同构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1620000"/>
          <a:ext cx="1080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endParaRPr/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Cargo / npm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Gaia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基本单元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Package (crate)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Knowledge Package (论文)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依赖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A depends on B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edge tail → head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版本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semver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Commit history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冲突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Version conflict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Contradiction edge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求解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SAT solver / 拓扑排序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Belief Propagation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共同基础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Horn clause 上的依赖传播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Horn clause 上的依赖传播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0000" y="5220000"/>
            <a:ext cx="1080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B5E9F"/>
                </a:solidFill>
                <a:latin typeface="Helvetica Neue"/>
              </a:defRPr>
            </a:pPr>
            <a:r>
              <a:t>包层面用 Cargo 拓扑算法 · 推理层面用 BP 算法 · 底层结构同构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5 · 知识包管理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Gaia CLI 工作流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620000"/>
            <a:ext cx="57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声明式包文件 + 交互式命令，双模混合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本地优先（LanceDB + Kuzu），远程可选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远程发布完整暴露三步流程: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  publish → review → merge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init galileo_tied_balls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build       # 校验包结构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commit      # 提交到本地图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propagate   # 本地 BP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test        # belief 断言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publish     # → 远程 registry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review &lt;id&gt; # LLM 审查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$ gaia merge &lt;id&gt;  # 合并 + 远程 BP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40000" y="2520000"/>
            <a:ext cx="4680000" cy="0"/>
          </a:xfrm>
          <a:prstGeom prst="line">
            <a:avLst/>
          </a:prstGeom>
          <a:ln w="38100">
            <a:solidFill>
              <a:srgbClr val="1B5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80000" y="1980000"/>
            <a:ext cx="108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5E9F"/>
                </a:solidFill>
                <a:latin typeface="Helvetica Neue"/>
              </a:defRPr>
            </a:pPr>
            <a:r>
              <a:t>local graph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60000" y="2520000"/>
            <a:ext cx="720000" cy="108000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80000" y="3600000"/>
            <a:ext cx="252000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80000" y="3780000"/>
            <a:ext cx="288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7D32"/>
                </a:solidFill>
                <a:latin typeface="Helvetica Neue"/>
              </a:defRPr>
            </a:pPr>
            <a:r>
              <a:t>publish → review → merge → remote registry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0800000" y="2520000"/>
            <a:ext cx="720000" cy="108000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60000" y="3456000"/>
            <a:ext cx="288000" cy="28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80000" y="3456000"/>
            <a:ext cx="288000" cy="28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00000" y="3456000"/>
            <a:ext cx="288000" cy="28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20000" y="3456000"/>
            <a:ext cx="288000" cy="288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20000" y="2376000"/>
            <a:ext cx="288000" cy="288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80000" y="2376000"/>
            <a:ext cx="288000" cy="288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40000" y="2376000"/>
            <a:ext cx="288000" cy="288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00000" y="2376000"/>
            <a:ext cx="288000" cy="288000"/>
          </a:xfrm>
          <a:prstGeom prst="ellipse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6 · 远景与总结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Large Knowledge Model — 远景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1620000"/>
          <a:ext cx="1080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endParaRPr/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Large Language Model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Large Knowledge Model</a:t>
                      </a:r>
                    </a:p>
                  </a:txBody>
                  <a:tcPr marL="108000" marR="108000" marT="36000" marB="36000" anchor="ctr">
                    <a:solidFill>
                      <a:srgbClr val="1B5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存储形式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压缩在参数中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显式图结构 (每条可寻址)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可追溯性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无法追溯来源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每条知识有完整推理链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可验证性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黑箱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每步推理可审计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矛盾处理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幻觉 (Hallucination)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显式 Contradiction Edge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更新方式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重新训练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增量提交 + BP 传播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规模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~10¹² 参数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10⁹ 节点, 5×10⁹ 超边</a:t>
                      </a:r>
                    </a:p>
                  </a:txBody>
                  <a:tcPr marL="108000" marR="108000" marT="36000" marB="360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6 · 远景与总结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十亿级规模怎么做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20000" y="1620000"/>
            <a:ext cx="3240000" cy="1080000"/>
          </a:xfrm>
          <a:prstGeom prst="roundRect">
            <a:avLst/>
          </a:prstGeom>
          <a:solidFill>
            <a:srgbClr val="1B5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LanceDB</a:t>
            </a:r>
            <a:br/>
            <a:r>
              <a:t>内容 + 元数据 + BM25 全文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0" y="1620000"/>
            <a:ext cx="3240000" cy="108000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Neo4j</a:t>
            </a:r>
            <a:br/>
            <a:r>
              <a:t>图拓扑 + 超边关系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0000" y="1620000"/>
            <a:ext cx="3240000" cy="108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Vector Index</a:t>
            </a:r>
            <a:br/>
            <a:r>
              <a:t>语义嵌入相似搜索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880000"/>
            <a:ext cx="108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666666"/>
                </a:solidFill>
                <a:latin typeface="Helvetica Neue"/>
              </a:defRPr>
            </a:pPr>
            <a:r>
              <a:t>三层存储：每一层负责一种查询模式，互为补充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2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分布式 BP: 图分区 + 残差调度 + 层次化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预接地 (Pre-grounding): 避免 MLN 组合爆炸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增量 BP: 只传播受影响的子图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近似推断: Loopy BP 收敛性保证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6 · 远景与总结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大概怎么用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20000" y="180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t>1. 查询知识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Helvetica Neue"/>
              </a:defRPr>
            </a:pPr>
            <a:r>
              <a:t>向量 + BM25 + 拓扑</a:t>
            </a:r>
            <a:br/>
            <a:r>
              <a:t>三路召回 → 带 belief 的知识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0" y="180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2E7D32"/>
                </a:solidFill>
                <a:latin typeface="Helvetica Neue"/>
              </a:defRPr>
            </a:pPr>
            <a:r>
              <a:t>2. 提交发现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Helvetica Neue"/>
              </a:defRPr>
            </a:pPr>
            <a:r>
              <a:t>Commit → Review → Merge</a:t>
            </a:r>
            <a:br/>
            <a:r>
              <a:t>→ BP 传播更新 belief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78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EF6C00"/>
                </a:solidFill>
                <a:latin typeface="Helvetica Neue"/>
              </a:defRPr>
            </a:pPr>
            <a:r>
              <a:t>3. 追溯推理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Helvetica Neue"/>
              </a:defRPr>
            </a:pPr>
            <a:r>
              <a:t>任意结论 → 沿超边回溯</a:t>
            </a:r>
            <a:br/>
            <a:r>
              <a:t>→ 完整推理链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378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D32F2F"/>
                </a:solidFill>
                <a:latin typeface="Helvetica Neue"/>
              </a:defRPr>
            </a:pPr>
            <a:r>
              <a:t>4. 发现矛盾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Helvetica Neue"/>
              </a:defRPr>
            </a:pPr>
            <a:r>
              <a:t>Contradiction Edge 自动标记</a:t>
            </a:r>
            <a:br/>
            <a:r>
              <a:t>→ 影响传播到下游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>Part 6 · 远景与总结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总结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20000" y="180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Gaia — Large Knowledge Model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• 知识 = 概率推理超图 (命题级, 非实体级)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• Contradiction Edge 把矛盾变成一等公民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• Belief Propagation 自动追踪确信度变化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• Git-like 工作流: commit → review → merge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• 包管理: 类 Cargo/npm 的知识包生态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>两个 canonical examples 验证了核心机制: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伽利略: 6 Pkg, 2 条矛盾线, 3 条证据线汇聚</a:t>
            </a:r>
          </a:p>
          <a:p>
            <a:pPr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 xml:space="preserve">  爱因斯坦: 5 Pkg, 定量矛盾, 观测判决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78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EF6C00"/>
                </a:solidFill>
                <a:latin typeface="Helvetica Neue"/>
              </a:defRPr>
            </a:pPr>
            <a:r>
              <a:t>3. 追溯推理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Helvetica Neue"/>
              </a:defRPr>
            </a:pPr>
            <a:r>
              <a:t>任意结论 → 沿超边回溯</a:t>
            </a:r>
            <a:br/>
            <a:r>
              <a:t>→ 完整推理链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5E9F"/>
                </a:solidFill>
                <a:latin typeface="Helvetica Neue"/>
              </a:defRPr>
            </a:pPr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68000"/>
            <a:ext cx="10440000" cy="7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260000"/>
            <a:ext cx="104400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20000" y="180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1B5E9F"/>
                </a:solidFill>
                <a:latin typeface="Helvetica Neue"/>
              </a:defRPr>
            </a:pPr>
            <a:r>
              <a:rPr lang="en-US" dirty="0">
                <a:solidFill>
                  <a:srgbClr val="E0E0E0"/>
                </a:solidFill>
                <a:latin typeface="Helvetica Neue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780000"/>
            <a:ext cx="5040000" cy="144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08000" rtlCol="0" anchor="ctr"/>
          <a:lstStyle/>
          <a:p>
            <a:pPr algn="ctr">
              <a:defRPr sz="2000" b="1">
                <a:solidFill>
                  <a:srgbClr val="EF6C00"/>
                </a:solidFill>
                <a:latin typeface="Helvetica Neue"/>
              </a:defRPr>
            </a:pPr>
            <a:r>
              <a:t>3. 追溯推理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Helvetica Neue"/>
              </a:defRPr>
            </a:pPr>
            <a:r>
              <a:t>任意结论 → 沿超边回溯</a:t>
            </a:r>
            <a:br/>
            <a:r>
              <a:t>→ 完整推理链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B0B0B0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420000"/>
            <a:ext cx="104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Gaia 全景架构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1100000"/>
            <a:ext cx="10440000" cy="0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96000" y="1500000"/>
            <a:ext cx="2800000" cy="110000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Research Agent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  <a:r>
              <a:t>(AI 科研助手)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6000" y="1500000"/>
            <a:ext cx="2800000" cy="1100000"/>
          </a:xfrm>
          <a:prstGeom prst="roundRect">
            <a:avLst/>
          </a:prstGeom>
          <a:solidFill>
            <a:srgbClr val="00696B"/>
          </a:solidFill>
          <a:ln w="1270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Gaia CLI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  <a:r>
              <a:t>(local)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96000" y="1500000"/>
            <a:ext cx="2800000" cy="1100000"/>
          </a:xfrm>
          <a:prstGeom prst="roundRect">
            <a:avLst/>
          </a:prstGeom>
          <a:solidFill>
            <a:srgbClr val="1B5E9F"/>
          </a:solidFill>
          <a:ln w="1270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Gaia Server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  <a:r>
              <a:t>(Large Knowledge Model)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6000" y="2030000"/>
            <a:ext cx="900000" cy="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796000" y="2070000"/>
            <a:ext cx="900000" cy="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6000" y="2030000"/>
            <a:ext cx="900000" cy="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96000" y="2070000"/>
            <a:ext cx="900000" cy="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96000" y="258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CC9F5"/>
                </a:solidFill>
              </a:defRPr>
            </a:pPr>
            <a:r>
              <a:t>external memory</a:t>
            </a:r>
            <a:br/>
            <a:r>
              <a:t>for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6000" y="258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CC9F5"/>
                </a:solidFill>
              </a:defRPr>
            </a:pPr>
            <a:r>
              <a:t>commit → review</a:t>
            </a:r>
            <a:br/>
            <a:r>
              <a:t>→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000" y="302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0B0B0"/>
                </a:solidFill>
              </a:defRPr>
            </a:pPr>
            <a:r>
              <a:t>Agent 读写知识</a:t>
            </a:r>
            <a:br/>
            <a:r>
              <a:t>作为 external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000" y="302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0B0B0"/>
                </a:solidFill>
              </a:defRPr>
            </a:pPr>
            <a:r>
              <a:t>knowledge packages</a:t>
            </a:r>
            <a:br/>
            <a:r>
              <a:t>init / commit / 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000" y="302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0B0B0"/>
                </a:solidFill>
              </a:defRPr>
            </a:pPr>
            <a:r>
              <a:t>十亿级推理超图</a:t>
            </a:r>
            <a:br/>
            <a:r>
              <a:t>BP · Contradiction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96000" y="3420000"/>
            <a:ext cx="0" cy="50000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36000" y="352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D54F"/>
                </a:solidFill>
              </a:defRPr>
            </a:pPr>
            <a:r>
              <a:t>知识输出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6000" y="4020000"/>
            <a:ext cx="1000000" cy="340000"/>
          </a:xfrm>
          <a:prstGeom prst="roundRect">
            <a:avLst/>
          </a:prstGeom>
          <a:solidFill>
            <a:srgbClr val="1B5E9F"/>
          </a:solidFill>
          <a:ln w="6350">
            <a:solidFill>
              <a:srgbClr val="1B5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论文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6000" y="4020000"/>
            <a:ext cx="1000000" cy="340000"/>
          </a:xfrm>
          <a:prstGeom prst="roundRect">
            <a:avLst/>
          </a:prstGeom>
          <a:solidFill>
            <a:srgbClr val="2E7D32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百科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96000" y="4020000"/>
            <a:ext cx="1000000" cy="340000"/>
          </a:xfrm>
          <a:prstGeom prst="roundRect">
            <a:avLst/>
          </a:prstGeom>
          <a:solidFill>
            <a:srgbClr val="6A1B9A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综述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6000" y="4460000"/>
            <a:ext cx="1000000" cy="340000"/>
          </a:xfrm>
          <a:prstGeom prst="roundRect">
            <a:avLst/>
          </a:prstGeom>
          <a:solidFill>
            <a:srgbClr val="E65100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科普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6000" y="4460000"/>
            <a:ext cx="1000000" cy="340000"/>
          </a:xfrm>
          <a:prstGeom prst="roundRect">
            <a:avLst/>
          </a:prstGeom>
          <a:solidFill>
            <a:srgbClr val="00696B"/>
          </a:solidFill>
          <a:ln w="635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教材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96000" y="4460000"/>
            <a:ext cx="1000000" cy="340000"/>
          </a:xfrm>
          <a:prstGeom prst="roundRect">
            <a:avLst/>
          </a:prstGeom>
          <a:solidFill>
            <a:srgbClr val="555555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FAQ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2546</Words>
  <Application>Microsoft Macintosh PowerPoint</Application>
  <PresentationFormat>宽屏</PresentationFormat>
  <Paragraphs>465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 Chen</cp:lastModifiedBy>
  <cp:revision>2</cp:revision>
  <dcterms:created xsi:type="dcterms:W3CDTF">2013-01-27T09:14:16Z</dcterms:created>
  <dcterms:modified xsi:type="dcterms:W3CDTF">2026-03-05T07:37:19Z</dcterms:modified>
  <cp:category/>
</cp:coreProperties>
</file>